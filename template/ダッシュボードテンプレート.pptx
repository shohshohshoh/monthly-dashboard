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gradFill rotWithShape="1">
            <a:gsLst>
              <a:gs pos="0">
                <a:srgbClr val="03071E"/>
              </a:gs>
              <a:gs pos="100000">
                <a:srgbClr val="060E26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20000" y="0"/>
            <a:ext cx="2520000" cy="6858000"/>
          </a:xfrm>
          <a:prstGeom prst="roundRect">
            <a:avLst/>
          </a:prstGeom>
          <a:noFill/>
          <a:ln w="5080">
            <a:solidFill>
              <a:srgbClr val="00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0000" y="0"/>
            <a:ext cx="2520000" cy="6858000"/>
          </a:xfrm>
          <a:prstGeom prst="roundRect">
            <a:avLst/>
          </a:prstGeom>
          <a:noFill/>
          <a:ln w="5080">
            <a:solidFill>
              <a:srgbClr val="00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80000" y="0"/>
            <a:ext cx="2520000" cy="6858000"/>
          </a:xfrm>
          <a:prstGeom prst="roundRect">
            <a:avLst/>
          </a:prstGeom>
          <a:noFill/>
          <a:ln w="5080">
            <a:solidFill>
              <a:srgbClr val="00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gradFill rotWithShape="1">
            <a:gsLst>
              <a:gs pos="0">
                <a:srgbClr val="040C30"/>
              </a:gs>
              <a:gs pos="100000">
                <a:srgbClr val="08163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4800"/>
            <a:ext cx="12193200" cy="18000"/>
          </a:xfrm>
          <a:prstGeom prst="rect">
            <a:avLst/>
          </a:prstGeom>
          <a:gradFill rotWithShape="1">
            <a:gsLst>
              <a:gs pos="0">
                <a:srgbClr val="003C96"/>
              </a:gs>
              <a:gs pos="100000">
                <a:srgbClr val="00B4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" y="3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FF"/>
                </a:solidFill>
              </a:rPr>
              <a:t>◈  [タイトルを入力]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" y="486000"/>
            <a:ext cx="10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6A8A"/>
                </a:solidFill>
              </a:rPr>
              <a:t>[サブタイトル：分析対象期間・データソースなど]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0" y="43200"/>
            <a:ext cx="820799" cy="720000"/>
          </a:xfrm>
          <a:prstGeom prst="rect">
            <a:avLst/>
          </a:prstGeom>
          <a:gradFill rotWithShape="1">
            <a:gsLst>
              <a:gs pos="0">
                <a:srgbClr val="061232"/>
              </a:gs>
              <a:gs pos="100000">
                <a:srgbClr val="040C26"/>
              </a:gs>
            </a:gsLst>
            <a:lin scaled="0" ang="13500000"/>
          </a:gradFill>
          <a:ln w="9525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6000" y="64800"/>
            <a:ext cx="7487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A8A"/>
                </a:solidFill>
              </a:rPr>
              <a:t>[指標①]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6000" y="295200"/>
            <a:ext cx="7487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FF"/>
                </a:solidFill>
              </a:rPr>
              <a:t>[値①]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4000" y="43200"/>
            <a:ext cx="820799" cy="720000"/>
          </a:xfrm>
          <a:prstGeom prst="rect">
            <a:avLst/>
          </a:prstGeom>
          <a:gradFill rotWithShape="1">
            <a:gsLst>
              <a:gs pos="0">
                <a:srgbClr val="061232"/>
              </a:gs>
              <a:gs pos="100000">
                <a:srgbClr val="040C26"/>
              </a:gs>
            </a:gsLst>
            <a:lin scaled="0" ang="13500000"/>
          </a:gradFill>
          <a:ln w="9525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0000" y="64800"/>
            <a:ext cx="7487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A8A"/>
                </a:solidFill>
              </a:rPr>
              <a:t>[指標②]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0000" y="295200"/>
            <a:ext cx="7487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FF"/>
                </a:solidFill>
              </a:rPr>
              <a:t>[値②]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8000" y="43200"/>
            <a:ext cx="820799" cy="720000"/>
          </a:xfrm>
          <a:prstGeom prst="rect">
            <a:avLst/>
          </a:prstGeom>
          <a:gradFill rotWithShape="1">
            <a:gsLst>
              <a:gs pos="0">
                <a:srgbClr val="061232"/>
              </a:gs>
              <a:gs pos="100000">
                <a:srgbClr val="040C26"/>
              </a:gs>
            </a:gsLst>
            <a:lin scaled="0" ang="13500000"/>
          </a:gradFill>
          <a:ln w="9525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4000" y="64800"/>
            <a:ext cx="7487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A8A"/>
                </a:solidFill>
              </a:rPr>
              <a:t>[指標③]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4000" y="295200"/>
            <a:ext cx="7487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5A0"/>
                </a:solidFill>
              </a:rPr>
              <a:t>[値③]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2000" y="43200"/>
            <a:ext cx="820799" cy="720000"/>
          </a:xfrm>
          <a:prstGeom prst="rect">
            <a:avLst/>
          </a:prstGeom>
          <a:gradFill rotWithShape="1">
            <a:gsLst>
              <a:gs pos="0">
                <a:srgbClr val="061232"/>
              </a:gs>
              <a:gs pos="100000">
                <a:srgbClr val="040C26"/>
              </a:gs>
            </a:gsLst>
            <a:lin scaled="0" ang="13500000"/>
          </a:gradFill>
          <a:ln w="9525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48000" y="64800"/>
            <a:ext cx="7487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A8A"/>
                </a:solidFill>
              </a:rPr>
              <a:t>[指標④]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295200"/>
            <a:ext cx="7487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DE5"/>
                </a:solidFill>
              </a:rPr>
              <a:t>[値④]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76000" y="43200"/>
            <a:ext cx="820799" cy="720000"/>
          </a:xfrm>
          <a:prstGeom prst="rect">
            <a:avLst/>
          </a:prstGeom>
          <a:gradFill rotWithShape="1">
            <a:gsLst>
              <a:gs pos="0">
                <a:srgbClr val="061232"/>
              </a:gs>
              <a:gs pos="100000">
                <a:srgbClr val="040C26"/>
              </a:gs>
            </a:gsLst>
            <a:lin scaled="0" ang="13500000"/>
          </a:gradFill>
          <a:ln w="9525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12000" y="64800"/>
            <a:ext cx="7487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A6A8A"/>
                </a:solidFill>
              </a:rPr>
              <a:t>[指標⑤]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12000" y="295200"/>
            <a:ext cx="7487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5DE5"/>
                </a:solidFill>
              </a:rPr>
              <a:t>[値⑤]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" y="820799"/>
            <a:ext cx="12049200" cy="316800"/>
          </a:xfrm>
          <a:prstGeom prst="rect">
            <a:avLst/>
          </a:prstGeom>
          <a:gradFill rotWithShape="1">
            <a:gsLst>
              <a:gs pos="0">
                <a:srgbClr val="040A1C"/>
              </a:gs>
              <a:gs pos="100000">
                <a:srgbClr val="030816"/>
              </a:gs>
            </a:gsLst>
            <a:lin scaled="0" ang="0"/>
          </a:gradFill>
          <a:ln w="6350">
            <a:solidFill>
              <a:srgbClr val="0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999" y="8387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B4FF"/>
                </a:solidFill>
              </a:rPr>
              <a:t>外的要因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00F5A0"/>
                </a:solidFill>
              </a:rPr>
              <a:t>[イベント①]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28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FF8C00"/>
                </a:solidFill>
              </a:rPr>
              <a:t>[イベント②]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0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FFD60A"/>
                </a:solidFill>
              </a:rPr>
              <a:t>[イベント③]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1999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FF3264"/>
                </a:solidFill>
              </a:rPr>
              <a:t>[イベント④]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4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00B4FF"/>
                </a:solidFill>
              </a:rPr>
              <a:t>[イベント⑤]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6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FF3264"/>
                </a:solidFill>
              </a:rPr>
              <a:t>[イベント⑥]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8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00F5A0"/>
                </a:solidFill>
              </a:rPr>
              <a:t>[イベント⑦]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0" y="838799"/>
            <a:ext cx="72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FF3264"/>
                </a:solidFill>
              </a:rPr>
              <a:t>[イベント⑧]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8000" y="838799"/>
            <a:ext cx="54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6A8A"/>
                </a:solidFill>
              </a:rPr>
              <a:t>季節性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08000" y="892800"/>
            <a:ext cx="368699" cy="2160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1月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1100" y="892800"/>
            <a:ext cx="368699" cy="2160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83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2月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4200" y="892800"/>
            <a:ext cx="368699" cy="216000"/>
          </a:xfrm>
          <a:prstGeom prst="rect">
            <a:avLst/>
          </a:prstGeom>
          <a:solidFill>
            <a:srgbClr val="5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14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3月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7300" y="892800"/>
            <a:ext cx="368699" cy="21600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45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4月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40400" y="892800"/>
            <a:ext cx="368699" cy="21600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476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5月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23500" y="892800"/>
            <a:ext cx="368699" cy="216000"/>
          </a:xfrm>
          <a:prstGeom prst="rect">
            <a:avLst/>
          </a:prstGeom>
          <a:solidFill>
            <a:srgbClr val="5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07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6月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6600" y="892800"/>
            <a:ext cx="368699" cy="216000"/>
          </a:xfrm>
          <a:prstGeom prst="rect">
            <a:avLst/>
          </a:prstGeom>
          <a:solidFill>
            <a:srgbClr val="5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138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7月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89700" y="892800"/>
            <a:ext cx="368699" cy="21600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969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8月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72800" y="892800"/>
            <a:ext cx="368699" cy="21600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800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9月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55900" y="892800"/>
            <a:ext cx="368699" cy="216000"/>
          </a:xfrm>
          <a:prstGeom prst="rect">
            <a:avLst/>
          </a:prstGeom>
          <a:solidFill>
            <a:srgbClr val="5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63099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10月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39000" y="892800"/>
            <a:ext cx="368699" cy="216000"/>
          </a:xfrm>
          <a:prstGeom prst="rect">
            <a:avLst/>
          </a:prstGeom>
          <a:solidFill>
            <a:srgbClr val="5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462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11月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522099" y="892800"/>
            <a:ext cx="368699" cy="216000"/>
          </a:xfrm>
          <a:prstGeom prst="rect">
            <a:avLst/>
          </a:prstGeom>
          <a:solidFill>
            <a:srgbClr val="00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29300" y="900000"/>
            <a:ext cx="3830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30" b="0" i="0">
                <a:solidFill>
                  <a:srgbClr val="FFFFFF"/>
                </a:solidFill>
              </a:rPr>
              <a:t>12月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000" y="1173600"/>
            <a:ext cx="45000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44000" y="12456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4000" y="12456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000" y="1252800"/>
            <a:ext cx="406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月別売上 3D比較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0000" y="1497600"/>
            <a:ext cx="42840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0000" y="1605600"/>
            <a:ext cx="42840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6000" y="3081599"/>
            <a:ext cx="421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【3D棒グラフ】
mpl_toolkits.mplot3d
年次比較に最適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999" y="1011599"/>
            <a:ext cx="45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① 月別売上 3D比較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44000" y="1173600"/>
            <a:ext cx="30600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716000" y="12456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16000" y="12456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04000" y="1252800"/>
            <a:ext cx="26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売上トレンド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2000" y="1497600"/>
            <a:ext cx="28440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2000" y="1605600"/>
            <a:ext cx="28440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88000" y="3081599"/>
            <a:ext cx="277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【折れ線グラフ】
外的要因注釈付き
ネオングロウ効果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98000" y="1011599"/>
            <a:ext cx="30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② 売上トレンド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6000" y="1173600"/>
            <a:ext cx="22320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48000" y="12456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48000" y="12456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6000" y="12528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製品別構成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84000" y="1497600"/>
            <a:ext cx="20160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84000" y="1605600"/>
            <a:ext cx="20160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20000" y="3081599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【ドーナツグラフ】
構成比の表示
爆発エフェクト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30000" y="1011599"/>
            <a:ext cx="22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③ 製品別構成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80000" y="1173600"/>
            <a:ext cx="21132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152000" y="12456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52000" y="12456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④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40000" y="1252800"/>
            <a:ext cx="1681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粗利率トレンド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188000" y="1497600"/>
            <a:ext cx="18972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188000" y="1605600"/>
            <a:ext cx="18972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24000" y="3081599"/>
            <a:ext cx="1825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【折れ線グラフ】
2系列比較
ゾーン強調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34000" y="1011599"/>
            <a:ext cx="21132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④ 粗利率トレンド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000" y="3888000"/>
            <a:ext cx="29880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44000" y="39600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4000" y="39600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2000" y="3967200"/>
            <a:ext cx="255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担当者達成率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0000" y="4212000"/>
            <a:ext cx="27720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0000" y="4320000"/>
            <a:ext cx="27720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6000" y="5796000"/>
            <a:ext cx="27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【横棒グラフ】
グラデーション塗り
達成率カラーコード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5999" y="3726000"/>
            <a:ext cx="29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⑤ 担当者達成率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31999" y="3888000"/>
            <a:ext cx="26280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203999" y="39600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03999" y="39600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91999" y="3967200"/>
            <a:ext cx="219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顧客別受注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40000" y="4212000"/>
            <a:ext cx="24120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40000" y="4320000"/>
            <a:ext cx="24120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▮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76000" y="5796000"/>
            <a:ext cx="2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【集合棒グラフ】
月別クラスター
前年比ラベル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86000" y="3726000"/>
            <a:ext cx="26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⑥ 顧客別受注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832000" y="3888000"/>
            <a:ext cx="30600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03999" y="39600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03999" y="39600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92000" y="3967200"/>
            <a:ext cx="26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売上ヒートマップ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0000" y="4212000"/>
            <a:ext cx="28440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0000" y="4320000"/>
            <a:ext cx="28440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75999" y="5796000"/>
            <a:ext cx="277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【カラーマップ】
imshow + 独自CMAP
2年×12月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85999" y="3726000"/>
            <a:ext cx="30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⑦ 売上ヒートマップ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64000" y="3888000"/>
            <a:ext cx="3157200" cy="2628000"/>
          </a:xfrm>
          <a:prstGeom prst="rect">
            <a:avLst/>
          </a:prstGeom>
          <a:gradFill rotWithShape="1">
            <a:gsLst>
              <a:gs pos="0">
                <a:srgbClr val="050D26"/>
              </a:gs>
              <a:gs pos="100000">
                <a:srgbClr val="030919"/>
              </a:gs>
            </a:gsLst>
            <a:lin scaled="0" ang="13500000"/>
          </a:gradFill>
          <a:ln w="762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6000" y="3960000"/>
            <a:ext cx="234000" cy="23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036000" y="3960000"/>
            <a:ext cx="23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3071E"/>
                </a:solidFill>
              </a:rPr>
              <a:t>⑧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24000" y="3967200"/>
            <a:ext cx="27252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ECEC"/>
                </a:solidFill>
              </a:rPr>
              <a:t>季節性指数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72000" y="4212000"/>
            <a:ext cx="2941200" cy="2196000"/>
          </a:xfrm>
          <a:prstGeom prst="rect">
            <a:avLst/>
          </a:prstGeom>
          <a:solidFill>
            <a:srgbClr val="050F28"/>
          </a:solidFill>
          <a:ln w="63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072000" y="4320000"/>
            <a:ext cx="2941200" cy="91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4FF"/>
                </a:solidFill>
              </a:rPr>
              <a:t>■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07999" y="5796000"/>
            <a:ext cx="2869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A6A8A"/>
                </a:solidFill>
              </a:rPr>
              <a:t>【棒グラフ】
色分け4段階
ハイライト効果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17999" y="3726000"/>
            <a:ext cx="31572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ECEC"/>
                </a:solidFill>
              </a:rPr>
              <a:t>⑧ 季節性指数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5999" y="6670800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A6A8A"/>
                </a:solidFill>
              </a:rPr>
              <a:t>カラーパレット: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5999" y="6786000"/>
            <a:ext cx="198000" cy="90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2000" y="6757200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" b="0" i="0">
                <a:solidFill>
                  <a:srgbClr val="4A6A8A"/>
                </a:solidFill>
              </a:rPr>
              <a:t>Primary
#00B4FF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82000" y="6786000"/>
            <a:ext cx="198000" cy="90000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98000" y="6757200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" b="0" i="0">
                <a:solidFill>
                  <a:srgbClr val="4A6A8A"/>
                </a:solidFill>
              </a:rPr>
              <a:t>Success
#00F5A0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638000" y="6786000"/>
            <a:ext cx="198000" cy="90000"/>
          </a:xfrm>
          <a:prstGeom prst="rect">
            <a:avLst/>
          </a:prstGeom>
          <a:solidFill>
            <a:srgbClr val="FF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853999" y="6757200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" b="0" i="0">
                <a:solidFill>
                  <a:srgbClr val="4A6A8A"/>
                </a:solidFill>
              </a:rPr>
              <a:t>Alert
#FF3264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394000" y="6786000"/>
            <a:ext cx="198000" cy="900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10000" y="6757200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" b="0" i="0">
                <a:solidFill>
                  <a:srgbClr val="4A6A8A"/>
                </a:solidFill>
              </a:rPr>
              <a:t>Accent
#9B5DE5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150000" y="6786000"/>
            <a:ext cx="198000" cy="90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366000" y="6757200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" b="0" i="0">
                <a:solidFill>
                  <a:srgbClr val="4A6A8A"/>
                </a:solidFill>
              </a:rPr>
              <a:t>Warm
#FF9F1C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906000" y="6786000"/>
            <a:ext cx="198000" cy="90000"/>
          </a:xfrm>
          <a:prstGeom prst="rect">
            <a:avLst/>
          </a:prstGeom>
          <a:solidFill>
            <a:srgbClr val="00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121999" y="6757200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" b="0" i="0">
                <a:solidFill>
                  <a:srgbClr val="4A6A8A"/>
                </a:solidFill>
              </a:rPr>
              <a:t>Info
#00ECEC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40000" y="6696000"/>
            <a:ext cx="702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4A6A8A"/>
                </a:solidFill>
              </a:rPr>
              <a:t>【使い方】① データをCSV等で準備  ② dashboard_template.py の [CONFIG] セクションを編集  ③ python dashboard_template.py を実行  ④ 出力ファイルを開いて確認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